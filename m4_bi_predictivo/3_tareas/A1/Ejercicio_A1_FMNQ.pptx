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Glacial Indifference" panose="020B0604020202020204" charset="0"/>
      <p:regular r:id="rId13"/>
    </p:embeddedFont>
    <p:embeddedFont>
      <p:font typeface="Glacial Indifference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E2D27-7F44-496C-B1E5-3AF2FD212B36}" v="31" dt="2026-06-15T01:05:15.8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z Vaca Ilian Joseph" userId="2fb0c357-d818-4b01-a0d7-0c63782b7851" providerId="ADAL" clId="{CA0ADFEF-C408-4D60-9D37-756C758C7756}"/>
    <pc:docChg chg="undo custSel modSld">
      <pc:chgData name="Felipez Vaca Ilian Joseph" userId="2fb0c357-d818-4b01-a0d7-0c63782b7851" providerId="ADAL" clId="{CA0ADFEF-C408-4D60-9D37-756C758C7756}" dt="2026-06-15T01:05:15.871" v="30"/>
      <pc:docMkLst>
        <pc:docMk/>
      </pc:docMkLst>
      <pc:sldChg chg="addSp delSp modSp mod">
        <pc:chgData name="Felipez Vaca Ilian Joseph" userId="2fb0c357-d818-4b01-a0d7-0c63782b7851" providerId="ADAL" clId="{CA0ADFEF-C408-4D60-9D37-756C758C7756}" dt="2026-06-15T01:04:14.620" v="6"/>
        <pc:sldMkLst>
          <pc:docMk/>
          <pc:sldMk cId="0" sldId="260"/>
        </pc:sldMkLst>
        <pc:spChg chg="del">
          <ac:chgData name="Felipez Vaca Ilian Joseph" userId="2fb0c357-d818-4b01-a0d7-0c63782b7851" providerId="ADAL" clId="{CA0ADFEF-C408-4D60-9D37-756C758C7756}" dt="2026-06-15T01:04:14.306" v="5" actId="478"/>
          <ac:spMkLst>
            <pc:docMk/>
            <pc:sldMk cId="0" sldId="260"/>
            <ac:spMk id="9" creationId="{00000000-0000-0000-0000-000000000000}"/>
          </ac:spMkLst>
        </pc:spChg>
        <pc:picChg chg="add del mod">
          <ac:chgData name="Felipez Vaca Ilian Joseph" userId="2fb0c357-d818-4b01-a0d7-0c63782b7851" providerId="ADAL" clId="{CA0ADFEF-C408-4D60-9D37-756C758C7756}" dt="2026-06-15T01:04:12.940" v="4" actId="21"/>
          <ac:picMkLst>
            <pc:docMk/>
            <pc:sldMk cId="0" sldId="260"/>
            <ac:picMk id="11" creationId="{2A8122BB-2B31-56DF-1080-6EE5C94B595F}"/>
          </ac:picMkLst>
        </pc:picChg>
        <pc:picChg chg="add mod">
          <ac:chgData name="Felipez Vaca Ilian Joseph" userId="2fb0c357-d818-4b01-a0d7-0c63782b7851" providerId="ADAL" clId="{CA0ADFEF-C408-4D60-9D37-756C758C7756}" dt="2026-06-15T01:04:14.620" v="6"/>
          <ac:picMkLst>
            <pc:docMk/>
            <pc:sldMk cId="0" sldId="260"/>
            <ac:picMk id="12" creationId="{2A8122BB-2B31-56DF-1080-6EE5C94B595F}"/>
          </ac:picMkLst>
        </pc:picChg>
      </pc:sldChg>
      <pc:sldChg chg="addSp delSp modSp mod">
        <pc:chgData name="Felipez Vaca Ilian Joseph" userId="2fb0c357-d818-4b01-a0d7-0c63782b7851" providerId="ADAL" clId="{CA0ADFEF-C408-4D60-9D37-756C758C7756}" dt="2026-06-15T01:04:46.930" v="17"/>
        <pc:sldMkLst>
          <pc:docMk/>
          <pc:sldMk cId="0" sldId="262"/>
        </pc:sldMkLst>
        <pc:spChg chg="del">
          <ac:chgData name="Felipez Vaca Ilian Joseph" userId="2fb0c357-d818-4b01-a0d7-0c63782b7851" providerId="ADAL" clId="{CA0ADFEF-C408-4D60-9D37-756C758C7756}" dt="2026-06-15T01:04:46.647" v="16" actId="478"/>
          <ac:spMkLst>
            <pc:docMk/>
            <pc:sldMk cId="0" sldId="262"/>
            <ac:spMk id="4" creationId="{00000000-0000-0000-0000-000000000000}"/>
          </ac:spMkLst>
        </pc:spChg>
        <pc:picChg chg="add del mod">
          <ac:chgData name="Felipez Vaca Ilian Joseph" userId="2fb0c357-d818-4b01-a0d7-0c63782b7851" providerId="ADAL" clId="{CA0ADFEF-C408-4D60-9D37-756C758C7756}" dt="2026-06-15T01:04:45.680" v="15" actId="21"/>
          <ac:picMkLst>
            <pc:docMk/>
            <pc:sldMk cId="0" sldId="262"/>
            <ac:picMk id="9" creationId="{179A621E-8977-2205-5765-DB5D7C244F7B}"/>
          </ac:picMkLst>
        </pc:picChg>
        <pc:picChg chg="add mod">
          <ac:chgData name="Felipez Vaca Ilian Joseph" userId="2fb0c357-d818-4b01-a0d7-0c63782b7851" providerId="ADAL" clId="{CA0ADFEF-C408-4D60-9D37-756C758C7756}" dt="2026-06-15T01:04:46.930" v="17"/>
          <ac:picMkLst>
            <pc:docMk/>
            <pc:sldMk cId="0" sldId="262"/>
            <ac:picMk id="10" creationId="{179A621E-8977-2205-5765-DB5D7C244F7B}"/>
          </ac:picMkLst>
        </pc:picChg>
      </pc:sldChg>
      <pc:sldChg chg="addSp delSp modSp mod">
        <pc:chgData name="Felipez Vaca Ilian Joseph" userId="2fb0c357-d818-4b01-a0d7-0c63782b7851" providerId="ADAL" clId="{CA0ADFEF-C408-4D60-9D37-756C758C7756}" dt="2026-06-15T01:05:15.871" v="30"/>
        <pc:sldMkLst>
          <pc:docMk/>
          <pc:sldMk cId="0" sldId="264"/>
        </pc:sldMkLst>
        <pc:spChg chg="del">
          <ac:chgData name="Felipez Vaca Ilian Joseph" userId="2fb0c357-d818-4b01-a0d7-0c63782b7851" providerId="ADAL" clId="{CA0ADFEF-C408-4D60-9D37-756C758C7756}" dt="2026-06-15T01:05:15.682" v="29" actId="478"/>
          <ac:spMkLst>
            <pc:docMk/>
            <pc:sldMk cId="0" sldId="264"/>
            <ac:spMk id="6" creationId="{00000000-0000-0000-0000-000000000000}"/>
          </ac:spMkLst>
        </pc:spChg>
        <pc:picChg chg="add del mod">
          <ac:chgData name="Felipez Vaca Ilian Joseph" userId="2fb0c357-d818-4b01-a0d7-0c63782b7851" providerId="ADAL" clId="{CA0ADFEF-C408-4D60-9D37-756C758C7756}" dt="2026-06-15T01:05:14.745" v="28" actId="21"/>
          <ac:picMkLst>
            <pc:docMk/>
            <pc:sldMk cId="0" sldId="264"/>
            <ac:picMk id="11" creationId="{898FFA21-ED37-ABF8-3B71-5B00C91F5D6B}"/>
          </ac:picMkLst>
        </pc:picChg>
        <pc:picChg chg="add mod">
          <ac:chgData name="Felipez Vaca Ilian Joseph" userId="2fb0c357-d818-4b01-a0d7-0c63782b7851" providerId="ADAL" clId="{CA0ADFEF-C408-4D60-9D37-756C758C7756}" dt="2026-06-15T01:05:15.871" v="30"/>
          <ac:picMkLst>
            <pc:docMk/>
            <pc:sldMk cId="0" sldId="264"/>
            <ac:picMk id="12" creationId="{898FFA21-ED37-ABF8-3B71-5B00C91F5D6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982806">
            <a:off x="720300" y="6421716"/>
            <a:ext cx="8842272" cy="11861584"/>
          </a:xfrm>
          <a:custGeom>
            <a:avLst/>
            <a:gdLst/>
            <a:ahLst/>
            <a:cxnLst/>
            <a:rect l="l" t="t" r="r" b="b"/>
            <a:pathLst>
              <a:path w="8842272" h="11861584">
                <a:moveTo>
                  <a:pt x="0" y="0"/>
                </a:moveTo>
                <a:lnTo>
                  <a:pt x="8842272" y="0"/>
                </a:lnTo>
                <a:lnTo>
                  <a:pt x="8842272" y="11861584"/>
                </a:lnTo>
                <a:lnTo>
                  <a:pt x="0" y="118615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 rot="-6501204">
            <a:off x="11046831" y="-5088864"/>
            <a:ext cx="8807178" cy="11814508"/>
          </a:xfrm>
          <a:custGeom>
            <a:avLst/>
            <a:gdLst/>
            <a:ahLst/>
            <a:cxnLst/>
            <a:rect l="l" t="t" r="r" b="b"/>
            <a:pathLst>
              <a:path w="8807178" h="11814508">
                <a:moveTo>
                  <a:pt x="0" y="0"/>
                </a:moveTo>
                <a:lnTo>
                  <a:pt x="8807178" y="0"/>
                </a:lnTo>
                <a:lnTo>
                  <a:pt x="8807178" y="11814507"/>
                </a:lnTo>
                <a:lnTo>
                  <a:pt x="0" y="118145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 rot="10571821">
            <a:off x="10628437" y="8363453"/>
            <a:ext cx="5947318" cy="7978109"/>
          </a:xfrm>
          <a:custGeom>
            <a:avLst/>
            <a:gdLst/>
            <a:ahLst/>
            <a:cxnLst/>
            <a:rect l="l" t="t" r="r" b="b"/>
            <a:pathLst>
              <a:path w="5947318" h="7978109">
                <a:moveTo>
                  <a:pt x="0" y="0"/>
                </a:moveTo>
                <a:lnTo>
                  <a:pt x="5947318" y="0"/>
                </a:lnTo>
                <a:lnTo>
                  <a:pt x="5947318" y="7978110"/>
                </a:lnTo>
                <a:lnTo>
                  <a:pt x="0" y="7978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5" name="Freeform 5"/>
          <p:cNvSpPr/>
          <p:nvPr/>
        </p:nvSpPr>
        <p:spPr>
          <a:xfrm rot="-5114765">
            <a:off x="11561828" y="5146485"/>
            <a:ext cx="8542938" cy="7393525"/>
          </a:xfrm>
          <a:custGeom>
            <a:avLst/>
            <a:gdLst/>
            <a:ahLst/>
            <a:cxnLst/>
            <a:rect l="l" t="t" r="r" b="b"/>
            <a:pathLst>
              <a:path w="8542938" h="7393525">
                <a:moveTo>
                  <a:pt x="0" y="0"/>
                </a:moveTo>
                <a:lnTo>
                  <a:pt x="8542938" y="0"/>
                </a:lnTo>
                <a:lnTo>
                  <a:pt x="8542938" y="7393525"/>
                </a:lnTo>
                <a:lnTo>
                  <a:pt x="0" y="73935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6" name="Freeform 6"/>
          <p:cNvSpPr/>
          <p:nvPr/>
        </p:nvSpPr>
        <p:spPr>
          <a:xfrm rot="-5058328">
            <a:off x="13255544" y="-4131370"/>
            <a:ext cx="7156478" cy="6935278"/>
          </a:xfrm>
          <a:custGeom>
            <a:avLst/>
            <a:gdLst/>
            <a:ahLst/>
            <a:cxnLst/>
            <a:rect l="l" t="t" r="r" b="b"/>
            <a:pathLst>
              <a:path w="7156478" h="6935278">
                <a:moveTo>
                  <a:pt x="0" y="0"/>
                </a:moveTo>
                <a:lnTo>
                  <a:pt x="7156479" y="0"/>
                </a:lnTo>
                <a:lnTo>
                  <a:pt x="7156479" y="6935279"/>
                </a:lnTo>
                <a:lnTo>
                  <a:pt x="0" y="69352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7" name="Freeform 7"/>
          <p:cNvSpPr/>
          <p:nvPr/>
        </p:nvSpPr>
        <p:spPr>
          <a:xfrm rot="3318101">
            <a:off x="-3880130" y="6803731"/>
            <a:ext cx="10117864" cy="10062676"/>
          </a:xfrm>
          <a:custGeom>
            <a:avLst/>
            <a:gdLst/>
            <a:ahLst/>
            <a:cxnLst/>
            <a:rect l="l" t="t" r="r" b="b"/>
            <a:pathLst>
              <a:path w="10117864" h="10062676">
                <a:moveTo>
                  <a:pt x="0" y="0"/>
                </a:moveTo>
                <a:lnTo>
                  <a:pt x="10117864" y="0"/>
                </a:lnTo>
                <a:lnTo>
                  <a:pt x="10117864" y="10062675"/>
                </a:lnTo>
                <a:lnTo>
                  <a:pt x="0" y="10062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8" name="Freeform 8"/>
          <p:cNvSpPr/>
          <p:nvPr/>
        </p:nvSpPr>
        <p:spPr>
          <a:xfrm rot="6800871">
            <a:off x="-1846725" y="-2878373"/>
            <a:ext cx="8542938" cy="7393525"/>
          </a:xfrm>
          <a:custGeom>
            <a:avLst/>
            <a:gdLst/>
            <a:ahLst/>
            <a:cxnLst/>
            <a:rect l="l" t="t" r="r" b="b"/>
            <a:pathLst>
              <a:path w="8542938" h="7393525">
                <a:moveTo>
                  <a:pt x="0" y="0"/>
                </a:moveTo>
                <a:lnTo>
                  <a:pt x="8542938" y="0"/>
                </a:lnTo>
                <a:lnTo>
                  <a:pt x="8542938" y="7393525"/>
                </a:lnTo>
                <a:lnTo>
                  <a:pt x="0" y="73935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Box 9"/>
          <p:cNvSpPr txBox="1"/>
          <p:nvPr/>
        </p:nvSpPr>
        <p:spPr>
          <a:xfrm>
            <a:off x="2184863" y="4437931"/>
            <a:ext cx="13798902" cy="1717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1" spc="939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INTRODUCCION BI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90215" y="3766424"/>
            <a:ext cx="7307570" cy="108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84"/>
              </a:lnSpc>
              <a:spcBef>
                <a:spcPct val="0"/>
              </a:spcBef>
            </a:pPr>
            <a:r>
              <a:rPr lang="en-US" sz="6345" spc="596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EJERCICIO A1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35367" y="1559064"/>
            <a:ext cx="9817265" cy="2547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258"/>
              </a:lnSpc>
              <a:spcBef>
                <a:spcPct val="0"/>
              </a:spcBef>
            </a:pPr>
            <a:r>
              <a:rPr lang="en-US" sz="7327" b="1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</a:t>
            </a:r>
            <a:r>
              <a:rPr lang="en-US" sz="7327" b="1" u="none" strike="noStrike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NSTRUCCIÓN DEL DATASET BASE</a:t>
            </a:r>
          </a:p>
        </p:txBody>
      </p:sp>
      <p:sp>
        <p:nvSpPr>
          <p:cNvPr id="3" name="Freeform 3"/>
          <p:cNvSpPr/>
          <p:nvPr/>
        </p:nvSpPr>
        <p:spPr>
          <a:xfrm>
            <a:off x="-290950" y="-2033784"/>
            <a:ext cx="5544196" cy="5181303"/>
          </a:xfrm>
          <a:custGeom>
            <a:avLst/>
            <a:gdLst/>
            <a:ahLst/>
            <a:cxnLst/>
            <a:rect l="l" t="t" r="r" b="b"/>
            <a:pathLst>
              <a:path w="5544196" h="5181303">
                <a:moveTo>
                  <a:pt x="0" y="0"/>
                </a:moveTo>
                <a:lnTo>
                  <a:pt x="5544196" y="0"/>
                </a:lnTo>
                <a:lnTo>
                  <a:pt x="5544196" y="5181303"/>
                </a:lnTo>
                <a:lnTo>
                  <a:pt x="0" y="51813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 rot="-9354559">
            <a:off x="12207201" y="5475509"/>
            <a:ext cx="8367389" cy="7819705"/>
          </a:xfrm>
          <a:custGeom>
            <a:avLst/>
            <a:gdLst/>
            <a:ahLst/>
            <a:cxnLst/>
            <a:rect l="l" t="t" r="r" b="b"/>
            <a:pathLst>
              <a:path w="8367389" h="7819705">
                <a:moveTo>
                  <a:pt x="0" y="0"/>
                </a:moveTo>
                <a:lnTo>
                  <a:pt x="8367389" y="0"/>
                </a:lnTo>
                <a:lnTo>
                  <a:pt x="8367389" y="7819705"/>
                </a:lnTo>
                <a:lnTo>
                  <a:pt x="0" y="78197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5" name="Freeform 5"/>
          <p:cNvSpPr/>
          <p:nvPr/>
        </p:nvSpPr>
        <p:spPr>
          <a:xfrm rot="5400000">
            <a:off x="13112837" y="-1659911"/>
            <a:ext cx="6556116" cy="6126988"/>
          </a:xfrm>
          <a:custGeom>
            <a:avLst/>
            <a:gdLst/>
            <a:ahLst/>
            <a:cxnLst/>
            <a:rect l="l" t="t" r="r" b="b"/>
            <a:pathLst>
              <a:path w="6556116" h="6126988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6" name="Freeform 6"/>
          <p:cNvSpPr/>
          <p:nvPr/>
        </p:nvSpPr>
        <p:spPr>
          <a:xfrm rot="-5521968">
            <a:off x="-1614569" y="6194806"/>
            <a:ext cx="6556116" cy="6126988"/>
          </a:xfrm>
          <a:custGeom>
            <a:avLst/>
            <a:gdLst/>
            <a:ahLst/>
            <a:cxnLst/>
            <a:rect l="l" t="t" r="r" b="b"/>
            <a:pathLst>
              <a:path w="6556116" h="6126988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7" name="Freeform 7"/>
          <p:cNvSpPr/>
          <p:nvPr/>
        </p:nvSpPr>
        <p:spPr>
          <a:xfrm>
            <a:off x="4235367" y="4268525"/>
            <a:ext cx="9542209" cy="5116837"/>
          </a:xfrm>
          <a:custGeom>
            <a:avLst/>
            <a:gdLst/>
            <a:ahLst/>
            <a:cxnLst/>
            <a:rect l="l" t="t" r="r" b="b"/>
            <a:pathLst>
              <a:path w="9542209" h="5116837">
                <a:moveTo>
                  <a:pt x="0" y="0"/>
                </a:moveTo>
                <a:lnTo>
                  <a:pt x="9542209" y="0"/>
                </a:lnTo>
                <a:lnTo>
                  <a:pt x="9542209" y="5116836"/>
                </a:lnTo>
                <a:lnTo>
                  <a:pt x="0" y="5116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7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90950" y="-2033784"/>
            <a:ext cx="8535602" cy="7976908"/>
          </a:xfrm>
          <a:custGeom>
            <a:avLst/>
            <a:gdLst/>
            <a:ahLst/>
            <a:cxnLst/>
            <a:rect l="l" t="t" r="r" b="b"/>
            <a:pathLst>
              <a:path w="8535602" h="7976908">
                <a:moveTo>
                  <a:pt x="0" y="0"/>
                </a:moveTo>
                <a:lnTo>
                  <a:pt x="8535602" y="0"/>
                </a:lnTo>
                <a:lnTo>
                  <a:pt x="8535602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 rot="-10151301">
            <a:off x="11164674" y="6546853"/>
            <a:ext cx="8535602" cy="7976908"/>
          </a:xfrm>
          <a:custGeom>
            <a:avLst/>
            <a:gdLst/>
            <a:ahLst/>
            <a:cxnLst/>
            <a:rect l="l" t="t" r="r" b="b"/>
            <a:pathLst>
              <a:path w="8535602" h="7976908">
                <a:moveTo>
                  <a:pt x="0" y="0"/>
                </a:moveTo>
                <a:lnTo>
                  <a:pt x="8535602" y="0"/>
                </a:lnTo>
                <a:lnTo>
                  <a:pt x="8535602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>
            <a:off x="1713809" y="4482100"/>
            <a:ext cx="15258995" cy="3598275"/>
          </a:xfrm>
          <a:custGeom>
            <a:avLst/>
            <a:gdLst/>
            <a:ahLst/>
            <a:cxnLst/>
            <a:rect l="l" t="t" r="r" b="b"/>
            <a:pathLst>
              <a:path w="15258995" h="3598275">
                <a:moveTo>
                  <a:pt x="0" y="0"/>
                </a:moveTo>
                <a:lnTo>
                  <a:pt x="15258995" y="0"/>
                </a:lnTo>
                <a:lnTo>
                  <a:pt x="15258995" y="3598275"/>
                </a:lnTo>
                <a:lnTo>
                  <a:pt x="0" y="3598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TextBox 5"/>
          <p:cNvSpPr txBox="1"/>
          <p:nvPr/>
        </p:nvSpPr>
        <p:spPr>
          <a:xfrm>
            <a:off x="5611607" y="768913"/>
            <a:ext cx="11807507" cy="2876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579"/>
              </a:lnSpc>
            </a:pPr>
            <a:r>
              <a:rPr lang="en-US" sz="8271" b="1" spc="777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EXPANSIÓN DEL DATASET</a:t>
            </a:r>
          </a:p>
        </p:txBody>
      </p:sp>
      <p:sp>
        <p:nvSpPr>
          <p:cNvPr id="6" name="AutoShape 6"/>
          <p:cNvSpPr/>
          <p:nvPr/>
        </p:nvSpPr>
        <p:spPr>
          <a:xfrm>
            <a:off x="8606998" y="4482100"/>
            <a:ext cx="8331816" cy="0"/>
          </a:xfrm>
          <a:prstGeom prst="line">
            <a:avLst/>
          </a:prstGeom>
          <a:ln w="180975" cap="flat">
            <a:solidFill>
              <a:srgbClr val="B59679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7" name="AutoShape 7"/>
          <p:cNvSpPr/>
          <p:nvPr/>
        </p:nvSpPr>
        <p:spPr>
          <a:xfrm>
            <a:off x="8640988" y="7989888"/>
            <a:ext cx="8331816" cy="0"/>
          </a:xfrm>
          <a:prstGeom prst="line">
            <a:avLst/>
          </a:prstGeom>
          <a:ln w="180975" cap="flat">
            <a:solidFill>
              <a:srgbClr val="B59679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8" name="AutoShape 8"/>
          <p:cNvSpPr/>
          <p:nvPr/>
        </p:nvSpPr>
        <p:spPr>
          <a:xfrm flipV="1">
            <a:off x="16938813" y="4482100"/>
            <a:ext cx="0" cy="3598275"/>
          </a:xfrm>
          <a:prstGeom prst="line">
            <a:avLst/>
          </a:prstGeom>
          <a:ln w="180975" cap="flat">
            <a:solidFill>
              <a:srgbClr val="B59679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9" name="AutoShape 9"/>
          <p:cNvSpPr/>
          <p:nvPr/>
        </p:nvSpPr>
        <p:spPr>
          <a:xfrm flipV="1">
            <a:off x="8425825" y="4391612"/>
            <a:ext cx="0" cy="3598275"/>
          </a:xfrm>
          <a:prstGeom prst="line">
            <a:avLst/>
          </a:prstGeom>
          <a:ln w="180975" cap="flat">
            <a:solidFill>
              <a:srgbClr val="B59679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7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6947" y="4364203"/>
            <a:ext cx="5141050" cy="4238108"/>
            <a:chOff x="0" y="0"/>
            <a:chExt cx="812800" cy="6700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670045"/>
            </a:xfrm>
            <a:custGeom>
              <a:avLst/>
              <a:gdLst/>
              <a:ahLst/>
              <a:cxnLst/>
              <a:rect l="l" t="t" r="r" b="b"/>
              <a:pathLst>
                <a:path w="812800" h="670045">
                  <a:moveTo>
                    <a:pt x="39153" y="0"/>
                  </a:moveTo>
                  <a:lnTo>
                    <a:pt x="773647" y="0"/>
                  </a:lnTo>
                  <a:cubicBezTo>
                    <a:pt x="784031" y="0"/>
                    <a:pt x="793990" y="4125"/>
                    <a:pt x="801332" y="11468"/>
                  </a:cubicBezTo>
                  <a:cubicBezTo>
                    <a:pt x="808675" y="18810"/>
                    <a:pt x="812800" y="28769"/>
                    <a:pt x="812800" y="39153"/>
                  </a:cubicBezTo>
                  <a:lnTo>
                    <a:pt x="812800" y="630891"/>
                  </a:lnTo>
                  <a:cubicBezTo>
                    <a:pt x="812800" y="641276"/>
                    <a:pt x="808675" y="651234"/>
                    <a:pt x="801332" y="658577"/>
                  </a:cubicBezTo>
                  <a:cubicBezTo>
                    <a:pt x="793990" y="665920"/>
                    <a:pt x="784031" y="670045"/>
                    <a:pt x="773647" y="670045"/>
                  </a:cubicBezTo>
                  <a:lnTo>
                    <a:pt x="39153" y="670045"/>
                  </a:lnTo>
                  <a:cubicBezTo>
                    <a:pt x="28769" y="670045"/>
                    <a:pt x="18810" y="665920"/>
                    <a:pt x="11468" y="658577"/>
                  </a:cubicBezTo>
                  <a:cubicBezTo>
                    <a:pt x="4125" y="651234"/>
                    <a:pt x="0" y="641276"/>
                    <a:pt x="0" y="630891"/>
                  </a:cubicBezTo>
                  <a:lnTo>
                    <a:pt x="0" y="39153"/>
                  </a:lnTo>
                  <a:cubicBezTo>
                    <a:pt x="0" y="28769"/>
                    <a:pt x="4125" y="18810"/>
                    <a:pt x="11468" y="11468"/>
                  </a:cubicBezTo>
                  <a:cubicBezTo>
                    <a:pt x="18810" y="4125"/>
                    <a:pt x="28769" y="0"/>
                    <a:pt x="39153" y="0"/>
                  </a:cubicBezTo>
                  <a:close/>
                </a:path>
              </a:pathLst>
            </a:custGeom>
            <a:solidFill>
              <a:srgbClr val="EDE8E4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812800" cy="66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575103" y="4364203"/>
            <a:ext cx="5141050" cy="4238108"/>
            <a:chOff x="0" y="0"/>
            <a:chExt cx="812800" cy="6700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670045"/>
            </a:xfrm>
            <a:custGeom>
              <a:avLst/>
              <a:gdLst/>
              <a:ahLst/>
              <a:cxnLst/>
              <a:rect l="l" t="t" r="r" b="b"/>
              <a:pathLst>
                <a:path w="812800" h="670045">
                  <a:moveTo>
                    <a:pt x="39153" y="0"/>
                  </a:moveTo>
                  <a:lnTo>
                    <a:pt x="773647" y="0"/>
                  </a:lnTo>
                  <a:cubicBezTo>
                    <a:pt x="784031" y="0"/>
                    <a:pt x="793990" y="4125"/>
                    <a:pt x="801332" y="11468"/>
                  </a:cubicBezTo>
                  <a:cubicBezTo>
                    <a:pt x="808675" y="18810"/>
                    <a:pt x="812800" y="28769"/>
                    <a:pt x="812800" y="39153"/>
                  </a:cubicBezTo>
                  <a:lnTo>
                    <a:pt x="812800" y="630891"/>
                  </a:lnTo>
                  <a:cubicBezTo>
                    <a:pt x="812800" y="641276"/>
                    <a:pt x="808675" y="651234"/>
                    <a:pt x="801332" y="658577"/>
                  </a:cubicBezTo>
                  <a:cubicBezTo>
                    <a:pt x="793990" y="665920"/>
                    <a:pt x="784031" y="670045"/>
                    <a:pt x="773647" y="670045"/>
                  </a:cubicBezTo>
                  <a:lnTo>
                    <a:pt x="39153" y="670045"/>
                  </a:lnTo>
                  <a:cubicBezTo>
                    <a:pt x="28769" y="670045"/>
                    <a:pt x="18810" y="665920"/>
                    <a:pt x="11468" y="658577"/>
                  </a:cubicBezTo>
                  <a:cubicBezTo>
                    <a:pt x="4125" y="651234"/>
                    <a:pt x="0" y="641276"/>
                    <a:pt x="0" y="630891"/>
                  </a:cubicBezTo>
                  <a:lnTo>
                    <a:pt x="0" y="39153"/>
                  </a:lnTo>
                  <a:cubicBezTo>
                    <a:pt x="0" y="28769"/>
                    <a:pt x="4125" y="18810"/>
                    <a:pt x="11468" y="11468"/>
                  </a:cubicBezTo>
                  <a:cubicBezTo>
                    <a:pt x="18810" y="4125"/>
                    <a:pt x="28769" y="0"/>
                    <a:pt x="39153" y="0"/>
                  </a:cubicBezTo>
                  <a:close/>
                </a:path>
              </a:pathLst>
            </a:custGeom>
            <a:solidFill>
              <a:srgbClr val="EDE8E4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812800" cy="66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040003" y="4364203"/>
            <a:ext cx="5141050" cy="4238108"/>
            <a:chOff x="0" y="0"/>
            <a:chExt cx="812800" cy="67004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670045"/>
            </a:xfrm>
            <a:custGeom>
              <a:avLst/>
              <a:gdLst/>
              <a:ahLst/>
              <a:cxnLst/>
              <a:rect l="l" t="t" r="r" b="b"/>
              <a:pathLst>
                <a:path w="812800" h="670045">
                  <a:moveTo>
                    <a:pt x="39153" y="0"/>
                  </a:moveTo>
                  <a:lnTo>
                    <a:pt x="773647" y="0"/>
                  </a:lnTo>
                  <a:cubicBezTo>
                    <a:pt x="784031" y="0"/>
                    <a:pt x="793990" y="4125"/>
                    <a:pt x="801332" y="11468"/>
                  </a:cubicBezTo>
                  <a:cubicBezTo>
                    <a:pt x="808675" y="18810"/>
                    <a:pt x="812800" y="28769"/>
                    <a:pt x="812800" y="39153"/>
                  </a:cubicBezTo>
                  <a:lnTo>
                    <a:pt x="812800" y="630891"/>
                  </a:lnTo>
                  <a:cubicBezTo>
                    <a:pt x="812800" y="641276"/>
                    <a:pt x="808675" y="651234"/>
                    <a:pt x="801332" y="658577"/>
                  </a:cubicBezTo>
                  <a:cubicBezTo>
                    <a:pt x="793990" y="665920"/>
                    <a:pt x="784031" y="670045"/>
                    <a:pt x="773647" y="670045"/>
                  </a:cubicBezTo>
                  <a:lnTo>
                    <a:pt x="39153" y="670045"/>
                  </a:lnTo>
                  <a:cubicBezTo>
                    <a:pt x="28769" y="670045"/>
                    <a:pt x="18810" y="665920"/>
                    <a:pt x="11468" y="658577"/>
                  </a:cubicBezTo>
                  <a:cubicBezTo>
                    <a:pt x="4125" y="651234"/>
                    <a:pt x="0" y="641276"/>
                    <a:pt x="0" y="630891"/>
                  </a:cubicBezTo>
                  <a:lnTo>
                    <a:pt x="0" y="39153"/>
                  </a:lnTo>
                  <a:cubicBezTo>
                    <a:pt x="0" y="28769"/>
                    <a:pt x="4125" y="18810"/>
                    <a:pt x="11468" y="11468"/>
                  </a:cubicBezTo>
                  <a:cubicBezTo>
                    <a:pt x="18810" y="4125"/>
                    <a:pt x="28769" y="0"/>
                    <a:pt x="39153" y="0"/>
                  </a:cubicBezTo>
                  <a:close/>
                </a:path>
              </a:pathLst>
            </a:custGeom>
            <a:solidFill>
              <a:srgbClr val="EDE8E4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812800" cy="66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981655" y="711893"/>
            <a:ext cx="8324690" cy="2547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58"/>
              </a:lnSpc>
            </a:pPr>
            <a:r>
              <a:rPr lang="en-US" sz="7327" b="1" spc="688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MÉTRICAS CALCULADAS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85110" y="5443287"/>
            <a:ext cx="4384724" cy="673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3"/>
              </a:lnSpc>
            </a:pPr>
            <a:r>
              <a:rPr lang="en-US" sz="3859" b="1" spc="38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Importe neto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53266" y="5153075"/>
            <a:ext cx="4384724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spc="30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Gasto total real del cliente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040003" y="5522979"/>
            <a:ext cx="5141050" cy="673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3"/>
              </a:lnSpc>
            </a:pPr>
            <a:r>
              <a:rPr lang="en-US" sz="3859" b="1" spc="38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Costo del descuento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73248" y="3180151"/>
            <a:ext cx="2008447" cy="198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39"/>
              </a:lnSpc>
            </a:pPr>
            <a:r>
              <a:rPr lang="en-US" sz="11528" b="1" spc="1083">
                <a:solidFill>
                  <a:srgbClr val="D89C6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41405" y="3180151"/>
            <a:ext cx="2008447" cy="198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39"/>
              </a:lnSpc>
            </a:pPr>
            <a:r>
              <a:rPr lang="en-US" sz="11528" b="1" spc="1083">
                <a:solidFill>
                  <a:srgbClr val="D89C6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606305" y="3180151"/>
            <a:ext cx="2008447" cy="198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39"/>
              </a:lnSpc>
            </a:pPr>
            <a:r>
              <a:rPr lang="en-US" sz="11528" b="1" spc="1083">
                <a:solidFill>
                  <a:srgbClr val="D89C6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95766" y="6468690"/>
            <a:ext cx="4563411" cy="1358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8"/>
              </a:lnSpc>
            </a:pPr>
            <a:endParaRPr/>
          </a:p>
          <a:p>
            <a:pPr algn="ctr">
              <a:lnSpc>
                <a:spcPts val="3648"/>
              </a:lnSpc>
            </a:pPr>
            <a:r>
              <a:rPr lang="en-US" sz="2605" spc="57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</a:t>
            </a:r>
            <a:r>
              <a:rPr lang="en-US" sz="2605" u="none" strike="noStrike" spc="57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mporte − Descuento</a:t>
            </a:r>
          </a:p>
          <a:p>
            <a:pPr algn="ctr">
              <a:lnSpc>
                <a:spcPts val="3648"/>
              </a:lnSpc>
            </a:pPr>
            <a:endParaRPr lang="en-US" sz="2605" u="none" strike="noStrike" spc="57">
              <a:solidFill>
                <a:srgbClr val="15254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863922" y="6473302"/>
            <a:ext cx="4563411" cy="1358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8"/>
              </a:lnSpc>
            </a:pPr>
            <a:endParaRPr/>
          </a:p>
          <a:p>
            <a:pPr algn="ctr">
              <a:lnSpc>
                <a:spcPts val="3648"/>
              </a:lnSpc>
            </a:pPr>
            <a:r>
              <a:rPr lang="en-US" sz="2605" spc="57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Importe </a:t>
            </a:r>
            <a:r>
              <a:rPr lang="en-US" sz="2605" u="none" strike="noStrike" spc="57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Neto +</a:t>
            </a:r>
            <a:r>
              <a:rPr lang="en-US" sz="2605" spc="57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605" u="none" strike="noStrike" spc="57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</a:t>
            </a:r>
            <a:r>
              <a:rPr lang="en-US" sz="2605" spc="57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</a:t>
            </a:r>
            <a:r>
              <a:rPr lang="en-US" sz="2605" u="none" strike="noStrike" spc="57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ví</a:t>
            </a:r>
            <a:r>
              <a:rPr lang="en-US" sz="2605" spc="57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</a:t>
            </a:r>
          </a:p>
          <a:p>
            <a:pPr algn="ctr">
              <a:lnSpc>
                <a:spcPts val="3648"/>
              </a:lnSpc>
            </a:pPr>
            <a:endParaRPr lang="en-US" sz="2605" spc="57">
              <a:solidFill>
                <a:srgbClr val="15254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328823" y="6910959"/>
            <a:ext cx="4563411" cy="446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8"/>
              </a:lnSpc>
            </a:pPr>
            <a:r>
              <a:rPr lang="en-US" sz="2605" spc="57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</a:t>
            </a:r>
            <a:r>
              <a:rPr lang="en-US" sz="2605" u="none" strike="noStrike" spc="57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mporte − Importe Neto</a:t>
            </a:r>
          </a:p>
        </p:txBody>
      </p:sp>
      <p:sp>
        <p:nvSpPr>
          <p:cNvPr id="21" name="AutoShape 21"/>
          <p:cNvSpPr/>
          <p:nvPr/>
        </p:nvSpPr>
        <p:spPr>
          <a:xfrm flipV="1">
            <a:off x="1311213" y="6248296"/>
            <a:ext cx="4732518" cy="0"/>
          </a:xfrm>
          <a:prstGeom prst="line">
            <a:avLst/>
          </a:prstGeom>
          <a:ln w="38100" cap="flat">
            <a:solidFill>
              <a:srgbClr val="2537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2" name="AutoShape 22"/>
          <p:cNvSpPr/>
          <p:nvPr/>
        </p:nvSpPr>
        <p:spPr>
          <a:xfrm flipV="1">
            <a:off x="6779369" y="6252907"/>
            <a:ext cx="4732518" cy="0"/>
          </a:xfrm>
          <a:prstGeom prst="line">
            <a:avLst/>
          </a:prstGeom>
          <a:ln w="38100" cap="flat">
            <a:solidFill>
              <a:srgbClr val="2537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3" name="AutoShape 23"/>
          <p:cNvSpPr/>
          <p:nvPr/>
        </p:nvSpPr>
        <p:spPr>
          <a:xfrm flipV="1">
            <a:off x="12244269" y="6239034"/>
            <a:ext cx="4732518" cy="0"/>
          </a:xfrm>
          <a:prstGeom prst="line">
            <a:avLst/>
          </a:prstGeom>
          <a:ln w="38100" cap="flat">
            <a:solidFill>
              <a:srgbClr val="2537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4" name="Freeform 24"/>
          <p:cNvSpPr/>
          <p:nvPr/>
        </p:nvSpPr>
        <p:spPr>
          <a:xfrm>
            <a:off x="16321534" y="-285545"/>
            <a:ext cx="1966466" cy="1884231"/>
          </a:xfrm>
          <a:custGeom>
            <a:avLst/>
            <a:gdLst/>
            <a:ahLst/>
            <a:cxnLst/>
            <a:rect l="l" t="t" r="r" b="b"/>
            <a:pathLst>
              <a:path w="1966466" h="1884231">
                <a:moveTo>
                  <a:pt x="0" y="0"/>
                </a:moveTo>
                <a:lnTo>
                  <a:pt x="1966466" y="0"/>
                </a:lnTo>
                <a:lnTo>
                  <a:pt x="1966466" y="1884232"/>
                </a:lnTo>
                <a:lnTo>
                  <a:pt x="0" y="18842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25" name="Freeform 25"/>
          <p:cNvSpPr/>
          <p:nvPr/>
        </p:nvSpPr>
        <p:spPr>
          <a:xfrm>
            <a:off x="17304767" y="854768"/>
            <a:ext cx="1966466" cy="1884231"/>
          </a:xfrm>
          <a:custGeom>
            <a:avLst/>
            <a:gdLst/>
            <a:ahLst/>
            <a:cxnLst/>
            <a:rect l="l" t="t" r="r" b="b"/>
            <a:pathLst>
              <a:path w="1966466" h="1884231">
                <a:moveTo>
                  <a:pt x="0" y="0"/>
                </a:moveTo>
                <a:lnTo>
                  <a:pt x="1966466" y="0"/>
                </a:lnTo>
                <a:lnTo>
                  <a:pt x="1966466" y="1884232"/>
                </a:lnTo>
                <a:lnTo>
                  <a:pt x="0" y="18842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26" name="Freeform 26"/>
          <p:cNvSpPr/>
          <p:nvPr/>
        </p:nvSpPr>
        <p:spPr>
          <a:xfrm>
            <a:off x="0" y="9258300"/>
            <a:ext cx="1966466" cy="1884231"/>
          </a:xfrm>
          <a:custGeom>
            <a:avLst/>
            <a:gdLst/>
            <a:ahLst/>
            <a:cxnLst/>
            <a:rect l="l" t="t" r="r" b="b"/>
            <a:pathLst>
              <a:path w="1966466" h="1884231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27" name="Freeform 27"/>
          <p:cNvSpPr/>
          <p:nvPr/>
        </p:nvSpPr>
        <p:spPr>
          <a:xfrm>
            <a:off x="-937766" y="8402769"/>
            <a:ext cx="1966466" cy="1884231"/>
          </a:xfrm>
          <a:custGeom>
            <a:avLst/>
            <a:gdLst/>
            <a:ahLst/>
            <a:cxnLst/>
            <a:rect l="l" t="t" r="r" b="b"/>
            <a:pathLst>
              <a:path w="1966466" h="1884231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28" name="Freeform 28"/>
          <p:cNvSpPr/>
          <p:nvPr/>
        </p:nvSpPr>
        <p:spPr>
          <a:xfrm rot="672866">
            <a:off x="-1045588" y="-1783519"/>
            <a:ext cx="6556116" cy="6126988"/>
          </a:xfrm>
          <a:custGeom>
            <a:avLst/>
            <a:gdLst/>
            <a:ahLst/>
            <a:cxnLst/>
            <a:rect l="l" t="t" r="r" b="b"/>
            <a:pathLst>
              <a:path w="6556116" h="6126988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29" name="Freeform 29"/>
          <p:cNvSpPr/>
          <p:nvPr/>
        </p:nvSpPr>
        <p:spPr>
          <a:xfrm rot="-10799999">
            <a:off x="12715117" y="7583041"/>
            <a:ext cx="6556116" cy="6126988"/>
          </a:xfrm>
          <a:custGeom>
            <a:avLst/>
            <a:gdLst/>
            <a:ahLst/>
            <a:cxnLst/>
            <a:rect l="l" t="t" r="r" b="b"/>
            <a:pathLst>
              <a:path w="6556116" h="6126988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04222" y="2898895"/>
            <a:ext cx="13668023" cy="476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6"/>
              </a:lnSpc>
            </a:pPr>
            <a:r>
              <a:rPr lang="en-US" sz="2754" spc="6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¿Q</a:t>
            </a:r>
            <a:r>
              <a:rPr lang="en-US" sz="2754" u="none" strike="noStrike" spc="6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ué canal genera más ingreso real después de descontar envíos y descuentos?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04222" y="2092445"/>
            <a:ext cx="11046402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 spc="470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RENTABILIDAD POR CANAL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904222" y="1249881"/>
            <a:ext cx="6460548" cy="819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83"/>
              </a:lnSpc>
            </a:pPr>
            <a:r>
              <a:rPr lang="en-US" sz="4845" spc="45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INSIGHT 1</a:t>
            </a:r>
          </a:p>
        </p:txBody>
      </p:sp>
      <p:sp>
        <p:nvSpPr>
          <p:cNvPr id="5" name="Freeform 5"/>
          <p:cNvSpPr/>
          <p:nvPr/>
        </p:nvSpPr>
        <p:spPr>
          <a:xfrm rot="-6399961">
            <a:off x="11329998" y="-1574727"/>
            <a:ext cx="13805122" cy="17698875"/>
          </a:xfrm>
          <a:custGeom>
            <a:avLst/>
            <a:gdLst/>
            <a:ahLst/>
            <a:cxnLst/>
            <a:rect l="l" t="t" r="r" b="b"/>
            <a:pathLst>
              <a:path w="13805122" h="17698875">
                <a:moveTo>
                  <a:pt x="0" y="0"/>
                </a:moveTo>
                <a:lnTo>
                  <a:pt x="13805122" y="0"/>
                </a:lnTo>
                <a:lnTo>
                  <a:pt x="13805122" y="17698875"/>
                </a:lnTo>
                <a:lnTo>
                  <a:pt x="0" y="176988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6" name="Freeform 6"/>
          <p:cNvSpPr/>
          <p:nvPr/>
        </p:nvSpPr>
        <p:spPr>
          <a:xfrm>
            <a:off x="15572246" y="8746182"/>
            <a:ext cx="1966466" cy="1884231"/>
          </a:xfrm>
          <a:custGeom>
            <a:avLst/>
            <a:gdLst/>
            <a:ahLst/>
            <a:cxnLst/>
            <a:rect l="l" t="t" r="r" b="b"/>
            <a:pathLst>
              <a:path w="1966466" h="1884231">
                <a:moveTo>
                  <a:pt x="0" y="0"/>
                </a:moveTo>
                <a:lnTo>
                  <a:pt x="1966465" y="0"/>
                </a:lnTo>
                <a:lnTo>
                  <a:pt x="1966465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7" name="Freeform 7"/>
          <p:cNvSpPr/>
          <p:nvPr/>
        </p:nvSpPr>
        <p:spPr>
          <a:xfrm>
            <a:off x="17259300" y="8746182"/>
            <a:ext cx="1966466" cy="1884231"/>
          </a:xfrm>
          <a:custGeom>
            <a:avLst/>
            <a:gdLst/>
            <a:ahLst/>
            <a:cxnLst/>
            <a:rect l="l" t="t" r="r" b="b"/>
            <a:pathLst>
              <a:path w="1966466" h="1884231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8" name="Freeform 8"/>
          <p:cNvSpPr/>
          <p:nvPr/>
        </p:nvSpPr>
        <p:spPr>
          <a:xfrm rot="659918">
            <a:off x="-442221" y="-3550155"/>
            <a:ext cx="6556116" cy="6126988"/>
          </a:xfrm>
          <a:custGeom>
            <a:avLst/>
            <a:gdLst/>
            <a:ahLst/>
            <a:cxnLst/>
            <a:rect l="l" t="t" r="r" b="b"/>
            <a:pathLst>
              <a:path w="6556116" h="6126988">
                <a:moveTo>
                  <a:pt x="0" y="0"/>
                </a:moveTo>
                <a:lnTo>
                  <a:pt x="6556116" y="0"/>
                </a:lnTo>
                <a:lnTo>
                  <a:pt x="6556116" y="6126989"/>
                </a:lnTo>
                <a:lnTo>
                  <a:pt x="0" y="61269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A8122BB-2B31-56DF-1080-6EE5C94B59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8885" y="3542677"/>
            <a:ext cx="12870345" cy="64025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04222" y="3088819"/>
            <a:ext cx="13668023" cy="476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6"/>
              </a:lnSpc>
            </a:pPr>
            <a:r>
              <a:rPr lang="en-US" sz="2754" spc="6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¿Q</a:t>
            </a:r>
            <a:r>
              <a:rPr lang="en-US" sz="2754" u="none" strike="noStrike" spc="6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ué canal genera más ingreso real después de descontar envíos y descuentos?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04222" y="2063870"/>
            <a:ext cx="11046402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 spc="56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RENTABILIDAD POR CANAL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904222" y="1230831"/>
            <a:ext cx="6460548" cy="966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sz="5686" spc="53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INSIGHT 1</a:t>
            </a:r>
          </a:p>
        </p:txBody>
      </p:sp>
      <p:sp>
        <p:nvSpPr>
          <p:cNvPr id="5" name="Freeform 5"/>
          <p:cNvSpPr/>
          <p:nvPr/>
        </p:nvSpPr>
        <p:spPr>
          <a:xfrm rot="-6399961">
            <a:off x="13343354" y="-1128977"/>
            <a:ext cx="13805122" cy="17698875"/>
          </a:xfrm>
          <a:custGeom>
            <a:avLst/>
            <a:gdLst/>
            <a:ahLst/>
            <a:cxnLst/>
            <a:rect l="l" t="t" r="r" b="b"/>
            <a:pathLst>
              <a:path w="13805122" h="17698875">
                <a:moveTo>
                  <a:pt x="0" y="0"/>
                </a:moveTo>
                <a:lnTo>
                  <a:pt x="13805123" y="0"/>
                </a:lnTo>
                <a:lnTo>
                  <a:pt x="13805123" y="17698874"/>
                </a:lnTo>
                <a:lnTo>
                  <a:pt x="0" y="176988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6" name="Freeform 6"/>
          <p:cNvSpPr/>
          <p:nvPr/>
        </p:nvSpPr>
        <p:spPr>
          <a:xfrm>
            <a:off x="15572246" y="8746182"/>
            <a:ext cx="1966466" cy="1884231"/>
          </a:xfrm>
          <a:custGeom>
            <a:avLst/>
            <a:gdLst/>
            <a:ahLst/>
            <a:cxnLst/>
            <a:rect l="l" t="t" r="r" b="b"/>
            <a:pathLst>
              <a:path w="1966466" h="1884231">
                <a:moveTo>
                  <a:pt x="0" y="0"/>
                </a:moveTo>
                <a:lnTo>
                  <a:pt x="1966465" y="0"/>
                </a:lnTo>
                <a:lnTo>
                  <a:pt x="1966465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7" name="Freeform 7"/>
          <p:cNvSpPr/>
          <p:nvPr/>
        </p:nvSpPr>
        <p:spPr>
          <a:xfrm>
            <a:off x="17259300" y="8746182"/>
            <a:ext cx="1966466" cy="1884231"/>
          </a:xfrm>
          <a:custGeom>
            <a:avLst/>
            <a:gdLst/>
            <a:ahLst/>
            <a:cxnLst/>
            <a:rect l="l" t="t" r="r" b="b"/>
            <a:pathLst>
              <a:path w="1966466" h="1884231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8" name="Freeform 8"/>
          <p:cNvSpPr/>
          <p:nvPr/>
        </p:nvSpPr>
        <p:spPr>
          <a:xfrm rot="659918">
            <a:off x="-442221" y="-3550155"/>
            <a:ext cx="6556116" cy="6126988"/>
          </a:xfrm>
          <a:custGeom>
            <a:avLst/>
            <a:gdLst/>
            <a:ahLst/>
            <a:cxnLst/>
            <a:rect l="l" t="t" r="r" b="b"/>
            <a:pathLst>
              <a:path w="6556116" h="6126988">
                <a:moveTo>
                  <a:pt x="0" y="0"/>
                </a:moveTo>
                <a:lnTo>
                  <a:pt x="6556116" y="0"/>
                </a:lnTo>
                <a:lnTo>
                  <a:pt x="6556116" y="6126989"/>
                </a:lnTo>
                <a:lnTo>
                  <a:pt x="0" y="61269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grpSp>
        <p:nvGrpSpPr>
          <p:cNvPr id="9" name="Group 9"/>
          <p:cNvGrpSpPr/>
          <p:nvPr/>
        </p:nvGrpSpPr>
        <p:grpSpPr>
          <a:xfrm>
            <a:off x="2061934" y="4316453"/>
            <a:ext cx="4027549" cy="4253639"/>
            <a:chOff x="0" y="0"/>
            <a:chExt cx="636756" cy="672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6756" cy="672500"/>
            </a:xfrm>
            <a:custGeom>
              <a:avLst/>
              <a:gdLst/>
              <a:ahLst/>
              <a:cxnLst/>
              <a:rect l="l" t="t" r="r" b="b"/>
              <a:pathLst>
                <a:path w="636756" h="672500">
                  <a:moveTo>
                    <a:pt x="49978" y="0"/>
                  </a:moveTo>
                  <a:lnTo>
                    <a:pt x="586777" y="0"/>
                  </a:lnTo>
                  <a:cubicBezTo>
                    <a:pt x="614380" y="0"/>
                    <a:pt x="636756" y="22376"/>
                    <a:pt x="636756" y="49978"/>
                  </a:cubicBezTo>
                  <a:lnTo>
                    <a:pt x="636756" y="622522"/>
                  </a:lnTo>
                  <a:cubicBezTo>
                    <a:pt x="636756" y="650124"/>
                    <a:pt x="614380" y="672500"/>
                    <a:pt x="586777" y="672500"/>
                  </a:cubicBezTo>
                  <a:lnTo>
                    <a:pt x="49978" y="672500"/>
                  </a:lnTo>
                  <a:cubicBezTo>
                    <a:pt x="22376" y="672500"/>
                    <a:pt x="0" y="650124"/>
                    <a:pt x="0" y="622522"/>
                  </a:cubicBezTo>
                  <a:lnTo>
                    <a:pt x="0" y="49978"/>
                  </a:lnTo>
                  <a:cubicBezTo>
                    <a:pt x="0" y="22376"/>
                    <a:pt x="22376" y="0"/>
                    <a:pt x="49978" y="0"/>
                  </a:cubicBezTo>
                  <a:close/>
                </a:path>
              </a:pathLst>
            </a:custGeom>
            <a:solidFill>
              <a:srgbClr val="253754"/>
            </a:solidFill>
            <a:ln cap="rnd">
              <a:noFill/>
              <a:prstDash val="lgDash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636756" cy="662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161881" y="5062985"/>
            <a:ext cx="3827654" cy="265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spc="65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PORCENTAJE</a:t>
            </a:r>
          </a:p>
          <a:p>
            <a:pPr algn="ctr">
              <a:lnSpc>
                <a:spcPts val="4200"/>
              </a:lnSpc>
            </a:pPr>
            <a:r>
              <a:rPr lang="en-US" sz="3000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Tienda aport</a:t>
            </a:r>
            <a:r>
              <a:rPr lang="en-US" sz="3000" u="none" strike="noStrike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</a:t>
            </a:r>
            <a:r>
              <a:rPr lang="en-US" sz="3000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</a:t>
            </a:r>
            <a:r>
              <a:rPr lang="en-US" sz="3000" u="none" strike="noStrike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</a:t>
            </a:r>
            <a:r>
              <a:rPr lang="en-US" sz="3000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000" u="none" strike="noStrike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51.8%</a:t>
            </a:r>
            <a:r>
              <a:rPr lang="en-US" sz="3000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000" u="none" strike="noStrike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</a:t>
            </a:r>
            <a:r>
              <a:rPr lang="en-US" sz="3000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</a:t>
            </a:r>
            <a:r>
              <a:rPr lang="en-US" sz="3000" u="none" strike="noStrike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 marg</a:t>
            </a:r>
            <a:r>
              <a:rPr lang="en-US" sz="3000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</a:t>
            </a:r>
            <a:r>
              <a:rPr lang="en-US" sz="3000" u="none" strike="noStrike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opera</a:t>
            </a:r>
            <a:r>
              <a:rPr lang="en-US" sz="3000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</a:t>
            </a:r>
            <a:r>
              <a:rPr lang="en-US" sz="3000" u="none" strike="noStrike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iv</a:t>
            </a:r>
            <a:r>
              <a:rPr lang="en-US" sz="3000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</a:t>
            </a:r>
            <a:r>
              <a:rPr lang="en-US" sz="3000" u="none" strike="noStrike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total y Online el 48.2%.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638154" y="4316453"/>
            <a:ext cx="5054160" cy="4253639"/>
            <a:chOff x="0" y="0"/>
            <a:chExt cx="799063" cy="6725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99063" cy="672500"/>
            </a:xfrm>
            <a:custGeom>
              <a:avLst/>
              <a:gdLst/>
              <a:ahLst/>
              <a:cxnLst/>
              <a:rect l="l" t="t" r="r" b="b"/>
              <a:pathLst>
                <a:path w="799063" h="672500">
                  <a:moveTo>
                    <a:pt x="39827" y="0"/>
                  </a:moveTo>
                  <a:lnTo>
                    <a:pt x="759236" y="0"/>
                  </a:lnTo>
                  <a:cubicBezTo>
                    <a:pt x="781232" y="0"/>
                    <a:pt x="799063" y="17831"/>
                    <a:pt x="799063" y="39827"/>
                  </a:cubicBezTo>
                  <a:lnTo>
                    <a:pt x="799063" y="632674"/>
                  </a:lnTo>
                  <a:cubicBezTo>
                    <a:pt x="799063" y="654669"/>
                    <a:pt x="781232" y="672500"/>
                    <a:pt x="759236" y="672500"/>
                  </a:cubicBezTo>
                  <a:lnTo>
                    <a:pt x="39827" y="672500"/>
                  </a:lnTo>
                  <a:cubicBezTo>
                    <a:pt x="17831" y="672500"/>
                    <a:pt x="0" y="654669"/>
                    <a:pt x="0" y="632674"/>
                  </a:cubicBezTo>
                  <a:lnTo>
                    <a:pt x="0" y="39827"/>
                  </a:lnTo>
                  <a:cubicBezTo>
                    <a:pt x="0" y="17831"/>
                    <a:pt x="17831" y="0"/>
                    <a:pt x="39827" y="0"/>
                  </a:cubicBezTo>
                  <a:close/>
                </a:path>
              </a:pathLst>
            </a:custGeom>
            <a:solidFill>
              <a:srgbClr val="253754"/>
            </a:solidFill>
            <a:ln cap="rnd">
              <a:noFill/>
              <a:prstDash val="lgDash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799063" cy="662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738101" y="4796285"/>
            <a:ext cx="4734892" cy="3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spc="65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HALLAZGO</a:t>
            </a:r>
          </a:p>
          <a:p>
            <a:pPr algn="ctr">
              <a:lnSpc>
                <a:spcPts val="4200"/>
              </a:lnSpc>
            </a:pPr>
            <a:r>
              <a:rPr lang="en-US" sz="3000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Aunque Online genera más ingresos</a:t>
            </a:r>
            <a:r>
              <a:rPr lang="en-US" sz="3000" u="none" strike="noStrike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n</a:t>
            </a:r>
            <a:r>
              <a:rPr lang="en-US" sz="3000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etos (€13,2</a:t>
            </a:r>
            <a:r>
              <a:rPr lang="en-US" sz="3000" u="none" strike="noStrike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57 vs €11,690),</a:t>
            </a:r>
            <a:r>
              <a:rPr lang="en-US" sz="3000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pier</a:t>
            </a:r>
            <a:r>
              <a:rPr lang="en-US" sz="3000" u="none" strike="noStrike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</a:t>
            </a:r>
            <a:r>
              <a:rPr lang="en-US" sz="3000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</a:t>
            </a:r>
            <a:r>
              <a:rPr lang="en-US" sz="3000" u="none" strike="noStrike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r</a:t>
            </a:r>
            <a:r>
              <a:rPr lang="en-US" sz="3000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entabilidad</a:t>
            </a:r>
            <a:r>
              <a:rPr lang="en-US" sz="3000" u="none" strike="noStrike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debid</a:t>
            </a:r>
            <a:r>
              <a:rPr lang="en-US" sz="3000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</a:t>
            </a:r>
            <a:r>
              <a:rPr lang="en-US" sz="3000" u="none" strike="noStrike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 €2,398 en costes de envío.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193947" y="4316453"/>
            <a:ext cx="4027549" cy="4253639"/>
            <a:chOff x="0" y="0"/>
            <a:chExt cx="636756" cy="6725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6756" cy="672500"/>
            </a:xfrm>
            <a:custGeom>
              <a:avLst/>
              <a:gdLst/>
              <a:ahLst/>
              <a:cxnLst/>
              <a:rect l="l" t="t" r="r" b="b"/>
              <a:pathLst>
                <a:path w="636756" h="672500">
                  <a:moveTo>
                    <a:pt x="49978" y="0"/>
                  </a:moveTo>
                  <a:lnTo>
                    <a:pt x="586777" y="0"/>
                  </a:lnTo>
                  <a:cubicBezTo>
                    <a:pt x="614380" y="0"/>
                    <a:pt x="636756" y="22376"/>
                    <a:pt x="636756" y="49978"/>
                  </a:cubicBezTo>
                  <a:lnTo>
                    <a:pt x="636756" y="622522"/>
                  </a:lnTo>
                  <a:cubicBezTo>
                    <a:pt x="636756" y="650124"/>
                    <a:pt x="614380" y="672500"/>
                    <a:pt x="586777" y="672500"/>
                  </a:cubicBezTo>
                  <a:lnTo>
                    <a:pt x="49978" y="672500"/>
                  </a:lnTo>
                  <a:cubicBezTo>
                    <a:pt x="22376" y="672500"/>
                    <a:pt x="0" y="650124"/>
                    <a:pt x="0" y="622522"/>
                  </a:cubicBezTo>
                  <a:lnTo>
                    <a:pt x="0" y="49978"/>
                  </a:lnTo>
                  <a:cubicBezTo>
                    <a:pt x="0" y="22376"/>
                    <a:pt x="22376" y="0"/>
                    <a:pt x="49978" y="0"/>
                  </a:cubicBezTo>
                  <a:close/>
                </a:path>
              </a:pathLst>
            </a:custGeom>
            <a:solidFill>
              <a:srgbClr val="253754"/>
            </a:solidFill>
            <a:ln cap="rnd">
              <a:noFill/>
              <a:prstDash val="lgDash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9525"/>
              <a:ext cx="636756" cy="662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2193947" y="5076825"/>
            <a:ext cx="3827654" cy="212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spc="65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DECISION</a:t>
            </a:r>
          </a:p>
          <a:p>
            <a:pPr algn="ctr">
              <a:lnSpc>
                <a:spcPts val="4200"/>
              </a:lnSpc>
            </a:pPr>
            <a:r>
              <a:rPr lang="en-US" sz="3000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Prioriz</a:t>
            </a:r>
            <a:r>
              <a:rPr lang="en-US" sz="3000" u="none" strike="noStrike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ar inv</a:t>
            </a:r>
            <a:r>
              <a:rPr lang="en-US" sz="3000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ersion pub</a:t>
            </a:r>
            <a:r>
              <a:rPr lang="en-US" sz="3000" u="none" strike="noStrike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licitaria </a:t>
            </a:r>
            <a:r>
              <a:rPr lang="en-US" sz="3000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</a:t>
            </a:r>
            <a:r>
              <a:rPr lang="en-US" sz="3000" u="none" strike="noStrike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es</a:t>
            </a:r>
            <a:r>
              <a:rPr lang="en-US" sz="3000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</a:t>
            </a:r>
            <a:r>
              <a:rPr lang="en-US" sz="3000" u="none" strike="noStrike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canal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7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90950" y="-2033784"/>
            <a:ext cx="8535602" cy="7976908"/>
          </a:xfrm>
          <a:custGeom>
            <a:avLst/>
            <a:gdLst/>
            <a:ahLst/>
            <a:cxnLst/>
            <a:rect l="l" t="t" r="r" b="b"/>
            <a:pathLst>
              <a:path w="8535602" h="7976908">
                <a:moveTo>
                  <a:pt x="0" y="0"/>
                </a:moveTo>
                <a:lnTo>
                  <a:pt x="8535602" y="0"/>
                </a:lnTo>
                <a:lnTo>
                  <a:pt x="8535602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 rot="-10151301">
            <a:off x="11164674" y="6546853"/>
            <a:ext cx="8535602" cy="7976908"/>
          </a:xfrm>
          <a:custGeom>
            <a:avLst/>
            <a:gdLst/>
            <a:ahLst/>
            <a:cxnLst/>
            <a:rect l="l" t="t" r="r" b="b"/>
            <a:pathLst>
              <a:path w="8535602" h="7976908">
                <a:moveTo>
                  <a:pt x="0" y="0"/>
                </a:moveTo>
                <a:lnTo>
                  <a:pt x="8535602" y="0"/>
                </a:lnTo>
                <a:lnTo>
                  <a:pt x="8535602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Box 5"/>
          <p:cNvSpPr txBox="1"/>
          <p:nvPr/>
        </p:nvSpPr>
        <p:spPr>
          <a:xfrm>
            <a:off x="9067626" y="595553"/>
            <a:ext cx="818436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000"/>
              </a:lnSpc>
            </a:pPr>
            <a:r>
              <a:rPr lang="en-US" sz="5000" spc="470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INSIGHT 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77494" y="1373428"/>
            <a:ext cx="12481806" cy="1393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599"/>
              </a:lnSpc>
            </a:pPr>
            <a:r>
              <a:rPr lang="en-US" sz="3999" b="1" spc="375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GASTO Y SATISFACCIÓN POR TIPO DE CLIENTE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759092" y="2710103"/>
            <a:ext cx="10654981" cy="472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6"/>
              </a:lnSpc>
            </a:pPr>
            <a:r>
              <a:rPr lang="en-US" sz="2754" spc="6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¿Los</a:t>
            </a:r>
            <a:r>
              <a:rPr lang="en-US" sz="2754" u="none" strike="noStrike" spc="6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clientes que más gastan son también los más satisfechos?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9A621E-8977-2205-5765-DB5D7C244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5566" y="3432308"/>
            <a:ext cx="12912947" cy="63977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7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90950" y="-2033784"/>
            <a:ext cx="8535602" cy="7976908"/>
          </a:xfrm>
          <a:custGeom>
            <a:avLst/>
            <a:gdLst/>
            <a:ahLst/>
            <a:cxnLst/>
            <a:rect l="l" t="t" r="r" b="b"/>
            <a:pathLst>
              <a:path w="8535602" h="7976908">
                <a:moveTo>
                  <a:pt x="0" y="0"/>
                </a:moveTo>
                <a:lnTo>
                  <a:pt x="8535602" y="0"/>
                </a:lnTo>
                <a:lnTo>
                  <a:pt x="8535602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 rot="-10151301">
            <a:off x="11164674" y="6546853"/>
            <a:ext cx="8535602" cy="7976908"/>
          </a:xfrm>
          <a:custGeom>
            <a:avLst/>
            <a:gdLst/>
            <a:ahLst/>
            <a:cxnLst/>
            <a:rect l="l" t="t" r="r" b="b"/>
            <a:pathLst>
              <a:path w="8535602" h="7976908">
                <a:moveTo>
                  <a:pt x="0" y="0"/>
                </a:moveTo>
                <a:lnTo>
                  <a:pt x="8535602" y="0"/>
                </a:lnTo>
                <a:lnTo>
                  <a:pt x="8535602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Box 4"/>
          <p:cNvSpPr txBox="1"/>
          <p:nvPr/>
        </p:nvSpPr>
        <p:spPr>
          <a:xfrm>
            <a:off x="9067626" y="595553"/>
            <a:ext cx="818436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000"/>
              </a:lnSpc>
            </a:pPr>
            <a:r>
              <a:rPr lang="en-US" sz="5000" spc="470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INSIGHT 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77494" y="1373428"/>
            <a:ext cx="12481806" cy="1393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599"/>
              </a:lnSpc>
            </a:pPr>
            <a:r>
              <a:rPr lang="en-US" sz="3999" b="1" spc="375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GASTO Y SATISFACCIÓN POR TIPO DE CLIENTE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59092" y="2710103"/>
            <a:ext cx="10654981" cy="472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6"/>
              </a:lnSpc>
            </a:pPr>
            <a:r>
              <a:rPr lang="en-US" sz="2754" spc="6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¿Los</a:t>
            </a:r>
            <a:r>
              <a:rPr lang="en-US" sz="2754" u="none" strike="noStrike" spc="6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clientes que más gastan son también los más satisfechos?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061934" y="4316453"/>
            <a:ext cx="4027549" cy="4253639"/>
            <a:chOff x="0" y="0"/>
            <a:chExt cx="636756" cy="6725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6756" cy="672500"/>
            </a:xfrm>
            <a:custGeom>
              <a:avLst/>
              <a:gdLst/>
              <a:ahLst/>
              <a:cxnLst/>
              <a:rect l="l" t="t" r="r" b="b"/>
              <a:pathLst>
                <a:path w="636756" h="672500">
                  <a:moveTo>
                    <a:pt x="49978" y="0"/>
                  </a:moveTo>
                  <a:lnTo>
                    <a:pt x="586777" y="0"/>
                  </a:lnTo>
                  <a:cubicBezTo>
                    <a:pt x="614380" y="0"/>
                    <a:pt x="636756" y="22376"/>
                    <a:pt x="636756" y="49978"/>
                  </a:cubicBezTo>
                  <a:lnTo>
                    <a:pt x="636756" y="622522"/>
                  </a:lnTo>
                  <a:cubicBezTo>
                    <a:pt x="636756" y="650124"/>
                    <a:pt x="614380" y="672500"/>
                    <a:pt x="586777" y="672500"/>
                  </a:cubicBezTo>
                  <a:lnTo>
                    <a:pt x="49978" y="672500"/>
                  </a:lnTo>
                  <a:cubicBezTo>
                    <a:pt x="22376" y="672500"/>
                    <a:pt x="0" y="650124"/>
                    <a:pt x="0" y="622522"/>
                  </a:cubicBezTo>
                  <a:lnTo>
                    <a:pt x="0" y="49978"/>
                  </a:lnTo>
                  <a:cubicBezTo>
                    <a:pt x="0" y="22376"/>
                    <a:pt x="22376" y="0"/>
                    <a:pt x="49978" y="0"/>
                  </a:cubicBezTo>
                  <a:close/>
                </a:path>
              </a:pathLst>
            </a:custGeom>
            <a:solidFill>
              <a:srgbClr val="EDE8E4"/>
            </a:solidFill>
            <a:ln cap="rnd">
              <a:noFill/>
              <a:prstDash val="lgDash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636756" cy="662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161881" y="5062985"/>
            <a:ext cx="3827654" cy="265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spc="6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PORCENTAJE</a:t>
            </a:r>
          </a:p>
          <a:p>
            <a:pPr algn="ctr">
              <a:lnSpc>
                <a:spcPts val="4200"/>
              </a:lnSpc>
            </a:pPr>
            <a:r>
              <a:rPr lang="en-US" sz="3000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Los clientes recurrentes g</a:t>
            </a:r>
            <a:r>
              <a:rPr lang="en-US" sz="3000" u="none" strike="noStrike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astan un</a:t>
            </a:r>
            <a:r>
              <a:rPr lang="en-US" sz="3000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000" u="none" strike="noStrike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5.3%</a:t>
            </a:r>
            <a:r>
              <a:rPr lang="en-US" sz="3000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000" u="none" strike="noStrike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más que los clientes nuevos.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638154" y="4316453"/>
            <a:ext cx="5054160" cy="4253639"/>
            <a:chOff x="0" y="0"/>
            <a:chExt cx="799063" cy="6725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99063" cy="672500"/>
            </a:xfrm>
            <a:custGeom>
              <a:avLst/>
              <a:gdLst/>
              <a:ahLst/>
              <a:cxnLst/>
              <a:rect l="l" t="t" r="r" b="b"/>
              <a:pathLst>
                <a:path w="799063" h="672500">
                  <a:moveTo>
                    <a:pt x="39827" y="0"/>
                  </a:moveTo>
                  <a:lnTo>
                    <a:pt x="759236" y="0"/>
                  </a:lnTo>
                  <a:cubicBezTo>
                    <a:pt x="781232" y="0"/>
                    <a:pt x="799063" y="17831"/>
                    <a:pt x="799063" y="39827"/>
                  </a:cubicBezTo>
                  <a:lnTo>
                    <a:pt x="799063" y="632674"/>
                  </a:lnTo>
                  <a:cubicBezTo>
                    <a:pt x="799063" y="654669"/>
                    <a:pt x="781232" y="672500"/>
                    <a:pt x="759236" y="672500"/>
                  </a:cubicBezTo>
                  <a:lnTo>
                    <a:pt x="39827" y="672500"/>
                  </a:lnTo>
                  <a:cubicBezTo>
                    <a:pt x="17831" y="672500"/>
                    <a:pt x="0" y="654669"/>
                    <a:pt x="0" y="632674"/>
                  </a:cubicBezTo>
                  <a:lnTo>
                    <a:pt x="0" y="39827"/>
                  </a:lnTo>
                  <a:cubicBezTo>
                    <a:pt x="0" y="17831"/>
                    <a:pt x="17831" y="0"/>
                    <a:pt x="39827" y="0"/>
                  </a:cubicBezTo>
                  <a:close/>
                </a:path>
              </a:pathLst>
            </a:custGeom>
            <a:solidFill>
              <a:srgbClr val="EDE8E4"/>
            </a:solidFill>
            <a:ln cap="rnd">
              <a:noFill/>
              <a:prstDash val="lgDash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799063" cy="662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738101" y="4796285"/>
            <a:ext cx="4734892" cy="3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spc="6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HALLAZGO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Ambos grupos</a:t>
            </a:r>
            <a:r>
              <a:rPr lang="en-US" sz="3000" u="none" strike="noStrike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mu</a:t>
            </a:r>
            <a:r>
              <a:rPr lang="en-US" sz="3000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estran satisfacción baja</a:t>
            </a:r>
            <a:r>
              <a:rPr lang="en-US" sz="3000" u="none" strike="noStrike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(men</a:t>
            </a:r>
            <a:r>
              <a:rPr lang="en-US" sz="3000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or</a:t>
            </a:r>
            <a:r>
              <a:rPr lang="en-US" sz="3000" u="none" strike="noStrike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 3/5).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u="none" strike="noStrike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Los recurrentes generan más ingresos.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193947" y="4316453"/>
            <a:ext cx="4027549" cy="4253639"/>
            <a:chOff x="0" y="0"/>
            <a:chExt cx="636756" cy="6725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6756" cy="672500"/>
            </a:xfrm>
            <a:custGeom>
              <a:avLst/>
              <a:gdLst/>
              <a:ahLst/>
              <a:cxnLst/>
              <a:rect l="l" t="t" r="r" b="b"/>
              <a:pathLst>
                <a:path w="636756" h="672500">
                  <a:moveTo>
                    <a:pt x="49978" y="0"/>
                  </a:moveTo>
                  <a:lnTo>
                    <a:pt x="586777" y="0"/>
                  </a:lnTo>
                  <a:cubicBezTo>
                    <a:pt x="614380" y="0"/>
                    <a:pt x="636756" y="22376"/>
                    <a:pt x="636756" y="49978"/>
                  </a:cubicBezTo>
                  <a:lnTo>
                    <a:pt x="636756" y="622522"/>
                  </a:lnTo>
                  <a:cubicBezTo>
                    <a:pt x="636756" y="650124"/>
                    <a:pt x="614380" y="672500"/>
                    <a:pt x="586777" y="672500"/>
                  </a:cubicBezTo>
                  <a:lnTo>
                    <a:pt x="49978" y="672500"/>
                  </a:lnTo>
                  <a:cubicBezTo>
                    <a:pt x="22376" y="672500"/>
                    <a:pt x="0" y="650124"/>
                    <a:pt x="0" y="622522"/>
                  </a:cubicBezTo>
                  <a:lnTo>
                    <a:pt x="0" y="49978"/>
                  </a:lnTo>
                  <a:cubicBezTo>
                    <a:pt x="0" y="22376"/>
                    <a:pt x="22376" y="0"/>
                    <a:pt x="49978" y="0"/>
                  </a:cubicBezTo>
                  <a:close/>
                </a:path>
              </a:pathLst>
            </a:custGeom>
            <a:solidFill>
              <a:srgbClr val="EDE8E4"/>
            </a:solidFill>
            <a:ln cap="rnd">
              <a:noFill/>
              <a:prstDash val="lgDash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9525"/>
              <a:ext cx="636756" cy="662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244764" y="5076825"/>
            <a:ext cx="3827654" cy="212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spc="6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DECISION</a:t>
            </a:r>
          </a:p>
          <a:p>
            <a:pPr algn="ctr">
              <a:lnSpc>
                <a:spcPts val="4200"/>
              </a:lnSpc>
            </a:pPr>
            <a:r>
              <a:rPr lang="en-US" sz="3000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Revis</a:t>
            </a:r>
            <a:r>
              <a:rPr lang="en-US" sz="3000" u="none" strike="noStrike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ar exp</a:t>
            </a:r>
            <a:r>
              <a:rPr lang="en-US" sz="3000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eriencia post-</a:t>
            </a:r>
            <a:r>
              <a:rPr lang="en-US" sz="3000" u="none" strike="noStrike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compra para r</a:t>
            </a:r>
            <a:r>
              <a:rPr lang="en-US" sz="3000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educir</a:t>
            </a:r>
            <a:r>
              <a:rPr lang="en-US" sz="3000" u="none" strike="noStrike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riesgo d</a:t>
            </a:r>
            <a:r>
              <a:rPr lang="en-US" sz="3000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</a:t>
            </a:r>
            <a:r>
              <a:rPr lang="en-US" sz="3000" u="none" strike="noStrike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fuga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798399">
            <a:off x="13156923" y="1016610"/>
            <a:ext cx="9798172" cy="13143890"/>
          </a:xfrm>
          <a:custGeom>
            <a:avLst/>
            <a:gdLst/>
            <a:ahLst/>
            <a:cxnLst/>
            <a:rect l="l" t="t" r="r" b="b"/>
            <a:pathLst>
              <a:path w="9798172" h="13143890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 rot="-8798399">
            <a:off x="-2994864" y="-8645988"/>
            <a:ext cx="9798172" cy="13143890"/>
          </a:xfrm>
          <a:custGeom>
            <a:avLst/>
            <a:gdLst/>
            <a:ahLst/>
            <a:cxnLst/>
            <a:rect l="l" t="t" r="r" b="b"/>
            <a:pathLst>
              <a:path w="9798172" h="13143890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 rot="9961243">
            <a:off x="12217193" y="-3026777"/>
            <a:ext cx="10084214" cy="8727429"/>
          </a:xfrm>
          <a:custGeom>
            <a:avLst/>
            <a:gdLst/>
            <a:ahLst/>
            <a:cxnLst/>
            <a:rect l="l" t="t" r="r" b="b"/>
            <a:pathLst>
              <a:path w="10084214" h="8727429">
                <a:moveTo>
                  <a:pt x="0" y="0"/>
                </a:moveTo>
                <a:lnTo>
                  <a:pt x="10084214" y="0"/>
                </a:lnTo>
                <a:lnTo>
                  <a:pt x="10084214" y="8727429"/>
                </a:lnTo>
                <a:lnTo>
                  <a:pt x="0" y="87274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5" name="Freeform 5"/>
          <p:cNvSpPr/>
          <p:nvPr/>
        </p:nvSpPr>
        <p:spPr>
          <a:xfrm rot="-976001">
            <a:off x="-4614341" y="5979010"/>
            <a:ext cx="9228681" cy="7987004"/>
          </a:xfrm>
          <a:custGeom>
            <a:avLst/>
            <a:gdLst/>
            <a:ahLst/>
            <a:cxnLst/>
            <a:rect l="l" t="t" r="r" b="b"/>
            <a:pathLst>
              <a:path w="9228681" h="7987004">
                <a:moveTo>
                  <a:pt x="0" y="0"/>
                </a:moveTo>
                <a:lnTo>
                  <a:pt x="9228682" y="0"/>
                </a:lnTo>
                <a:lnTo>
                  <a:pt x="9228682" y="7987004"/>
                </a:lnTo>
                <a:lnTo>
                  <a:pt x="0" y="79870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Box 7"/>
          <p:cNvSpPr txBox="1"/>
          <p:nvPr/>
        </p:nvSpPr>
        <p:spPr>
          <a:xfrm>
            <a:off x="1028700" y="1531086"/>
            <a:ext cx="1166714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 spc="470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EFICIENCIA DE LOS DESCUENTOS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672774"/>
            <a:ext cx="6460548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spc="469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INSIGHT 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667135"/>
            <a:ext cx="10654981" cy="472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6"/>
              </a:lnSpc>
            </a:pPr>
            <a:r>
              <a:rPr lang="en-US" sz="2754" spc="6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¿Los</a:t>
            </a:r>
            <a:r>
              <a:rPr lang="en-US" sz="2754" u="none" strike="noStrike" spc="6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descuentos están dirigidos a los segmentos más valiosos?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98FFA21-ED37-ABF8-3B71-5B00C91F5D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83" y="3309537"/>
            <a:ext cx="17416158" cy="61439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798399">
            <a:off x="13156923" y="1016610"/>
            <a:ext cx="9798172" cy="13143890"/>
          </a:xfrm>
          <a:custGeom>
            <a:avLst/>
            <a:gdLst/>
            <a:ahLst/>
            <a:cxnLst/>
            <a:rect l="l" t="t" r="r" b="b"/>
            <a:pathLst>
              <a:path w="9798172" h="13143890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 rot="-8798399">
            <a:off x="-2741550" y="-8168257"/>
            <a:ext cx="9798172" cy="13143890"/>
          </a:xfrm>
          <a:custGeom>
            <a:avLst/>
            <a:gdLst/>
            <a:ahLst/>
            <a:cxnLst/>
            <a:rect l="l" t="t" r="r" b="b"/>
            <a:pathLst>
              <a:path w="9798172" h="13143890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 rot="9961243">
            <a:off x="12217193" y="-3026777"/>
            <a:ext cx="10084214" cy="8727429"/>
          </a:xfrm>
          <a:custGeom>
            <a:avLst/>
            <a:gdLst/>
            <a:ahLst/>
            <a:cxnLst/>
            <a:rect l="l" t="t" r="r" b="b"/>
            <a:pathLst>
              <a:path w="10084214" h="8727429">
                <a:moveTo>
                  <a:pt x="0" y="0"/>
                </a:moveTo>
                <a:lnTo>
                  <a:pt x="10084214" y="0"/>
                </a:lnTo>
                <a:lnTo>
                  <a:pt x="10084214" y="8727429"/>
                </a:lnTo>
                <a:lnTo>
                  <a:pt x="0" y="87274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5" name="Freeform 5"/>
          <p:cNvSpPr/>
          <p:nvPr/>
        </p:nvSpPr>
        <p:spPr>
          <a:xfrm rot="-976001">
            <a:off x="-4614341" y="5979010"/>
            <a:ext cx="9228681" cy="7987004"/>
          </a:xfrm>
          <a:custGeom>
            <a:avLst/>
            <a:gdLst/>
            <a:ahLst/>
            <a:cxnLst/>
            <a:rect l="l" t="t" r="r" b="b"/>
            <a:pathLst>
              <a:path w="9228681" h="7987004">
                <a:moveTo>
                  <a:pt x="0" y="0"/>
                </a:moveTo>
                <a:lnTo>
                  <a:pt x="9228682" y="0"/>
                </a:lnTo>
                <a:lnTo>
                  <a:pt x="9228682" y="7987004"/>
                </a:lnTo>
                <a:lnTo>
                  <a:pt x="0" y="79870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Box 6"/>
          <p:cNvSpPr txBox="1"/>
          <p:nvPr/>
        </p:nvSpPr>
        <p:spPr>
          <a:xfrm>
            <a:off x="1282014" y="2008817"/>
            <a:ext cx="1166714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 spc="470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EFICIENCIA DE LOS DESCUENTOS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82014" y="1150505"/>
            <a:ext cx="6460548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spc="469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INSIGHT 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82014" y="3144866"/>
            <a:ext cx="10654981" cy="472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6"/>
              </a:lnSpc>
            </a:pPr>
            <a:r>
              <a:rPr lang="en-US" sz="2754" spc="6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¿Los</a:t>
            </a:r>
            <a:r>
              <a:rPr lang="en-US" sz="2754" u="none" strike="noStrike" spc="6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descuentos están dirigidos a los segmentos más valiosos?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4316453"/>
            <a:ext cx="5060783" cy="4253639"/>
            <a:chOff x="0" y="0"/>
            <a:chExt cx="800110" cy="672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00110" cy="672500"/>
            </a:xfrm>
            <a:custGeom>
              <a:avLst/>
              <a:gdLst/>
              <a:ahLst/>
              <a:cxnLst/>
              <a:rect l="l" t="t" r="r" b="b"/>
              <a:pathLst>
                <a:path w="800110" h="672500">
                  <a:moveTo>
                    <a:pt x="39774" y="0"/>
                  </a:moveTo>
                  <a:lnTo>
                    <a:pt x="760335" y="0"/>
                  </a:lnTo>
                  <a:cubicBezTo>
                    <a:pt x="782302" y="0"/>
                    <a:pt x="800110" y="17808"/>
                    <a:pt x="800110" y="39774"/>
                  </a:cubicBezTo>
                  <a:lnTo>
                    <a:pt x="800110" y="632726"/>
                  </a:lnTo>
                  <a:cubicBezTo>
                    <a:pt x="800110" y="643275"/>
                    <a:pt x="795919" y="653391"/>
                    <a:pt x="788460" y="660851"/>
                  </a:cubicBezTo>
                  <a:cubicBezTo>
                    <a:pt x="781001" y="668310"/>
                    <a:pt x="770884" y="672500"/>
                    <a:pt x="760335" y="672500"/>
                  </a:cubicBezTo>
                  <a:lnTo>
                    <a:pt x="39774" y="672500"/>
                  </a:lnTo>
                  <a:cubicBezTo>
                    <a:pt x="29226" y="672500"/>
                    <a:pt x="19109" y="668310"/>
                    <a:pt x="11650" y="660851"/>
                  </a:cubicBezTo>
                  <a:cubicBezTo>
                    <a:pt x="4191" y="653391"/>
                    <a:pt x="0" y="643275"/>
                    <a:pt x="0" y="632726"/>
                  </a:cubicBezTo>
                  <a:lnTo>
                    <a:pt x="0" y="39774"/>
                  </a:lnTo>
                  <a:cubicBezTo>
                    <a:pt x="0" y="29226"/>
                    <a:pt x="4191" y="19109"/>
                    <a:pt x="11650" y="11650"/>
                  </a:cubicBezTo>
                  <a:cubicBezTo>
                    <a:pt x="19109" y="4191"/>
                    <a:pt x="29226" y="0"/>
                    <a:pt x="39774" y="0"/>
                  </a:cubicBezTo>
                  <a:close/>
                </a:path>
              </a:pathLst>
            </a:custGeom>
            <a:solidFill>
              <a:srgbClr val="253754"/>
            </a:solidFill>
            <a:ln cap="rnd">
              <a:noFill/>
              <a:prstDash val="lgDash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800110" cy="662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02700" y="4611298"/>
            <a:ext cx="4712782" cy="359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spc="65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PORCENTAJE</a:t>
            </a:r>
          </a:p>
          <a:p>
            <a:pPr algn="ctr">
              <a:lnSpc>
                <a:spcPts val="3500"/>
              </a:lnSpc>
            </a:pPr>
            <a:r>
              <a:rPr lang="en-US" sz="2500" spc="5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Online-Nuevo recibe</a:t>
            </a:r>
            <a:r>
              <a:rPr lang="en-US" sz="2500" u="none" strike="noStrike" spc="5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500" spc="5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</a:t>
            </a:r>
            <a:r>
              <a:rPr lang="en-US" sz="2500" u="none" strike="noStrike" spc="5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</a:t>
            </a:r>
            <a:r>
              <a:rPr lang="en-US" sz="2500" spc="5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27</a:t>
            </a:r>
            <a:r>
              <a:rPr lang="en-US" sz="2500" u="none" strike="noStrike" spc="5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.84%</a:t>
            </a:r>
            <a:r>
              <a:rPr lang="en-US" sz="2500" spc="5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500" u="none" strike="noStrike" spc="5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</a:t>
            </a:r>
            <a:r>
              <a:rPr lang="en-US" sz="2500" spc="5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 </a:t>
            </a:r>
            <a:r>
              <a:rPr lang="en-US" sz="2500" u="none" strike="noStrike" spc="5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los descu</a:t>
            </a:r>
            <a:r>
              <a:rPr lang="en-US" sz="2500" spc="5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ent</a:t>
            </a:r>
            <a:r>
              <a:rPr lang="en-US" sz="2500" u="none" strike="noStrike" spc="5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os, per</a:t>
            </a:r>
            <a:r>
              <a:rPr lang="en-US" sz="2500" spc="5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</a:t>
            </a:r>
            <a:r>
              <a:rPr lang="en-US" sz="2500" u="none" strike="noStrike" spc="5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genera solo el 25.72% del gasto.</a:t>
            </a:r>
          </a:p>
          <a:p>
            <a:pPr algn="ctr">
              <a:lnSpc>
                <a:spcPts val="3500"/>
              </a:lnSpc>
            </a:pPr>
            <a:r>
              <a:rPr lang="en-US" sz="2500" u="none" strike="noStrike" spc="5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Online-Recurrente genera el mayor valor (26.47% del gasto) con una proporción similar de descuentos (26.48%)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638154" y="4316453"/>
            <a:ext cx="5054160" cy="4253639"/>
            <a:chOff x="0" y="0"/>
            <a:chExt cx="799063" cy="6725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99063" cy="672500"/>
            </a:xfrm>
            <a:custGeom>
              <a:avLst/>
              <a:gdLst/>
              <a:ahLst/>
              <a:cxnLst/>
              <a:rect l="l" t="t" r="r" b="b"/>
              <a:pathLst>
                <a:path w="799063" h="672500">
                  <a:moveTo>
                    <a:pt x="39827" y="0"/>
                  </a:moveTo>
                  <a:lnTo>
                    <a:pt x="759236" y="0"/>
                  </a:lnTo>
                  <a:cubicBezTo>
                    <a:pt x="781232" y="0"/>
                    <a:pt x="799063" y="17831"/>
                    <a:pt x="799063" y="39827"/>
                  </a:cubicBezTo>
                  <a:lnTo>
                    <a:pt x="799063" y="632674"/>
                  </a:lnTo>
                  <a:cubicBezTo>
                    <a:pt x="799063" y="654669"/>
                    <a:pt x="781232" y="672500"/>
                    <a:pt x="759236" y="672500"/>
                  </a:cubicBezTo>
                  <a:lnTo>
                    <a:pt x="39827" y="672500"/>
                  </a:lnTo>
                  <a:cubicBezTo>
                    <a:pt x="17831" y="672500"/>
                    <a:pt x="0" y="654669"/>
                    <a:pt x="0" y="632674"/>
                  </a:cubicBezTo>
                  <a:lnTo>
                    <a:pt x="0" y="39827"/>
                  </a:lnTo>
                  <a:cubicBezTo>
                    <a:pt x="0" y="17831"/>
                    <a:pt x="17831" y="0"/>
                    <a:pt x="39827" y="0"/>
                  </a:cubicBezTo>
                  <a:close/>
                </a:path>
              </a:pathLst>
            </a:custGeom>
            <a:solidFill>
              <a:srgbClr val="253754"/>
            </a:solidFill>
            <a:ln cap="rnd">
              <a:noFill/>
              <a:prstDash val="lgDash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799063" cy="662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774269" y="4611298"/>
            <a:ext cx="4734892" cy="3884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spc="65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HALLAZGO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spc="52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segmento con más descuentos es Online-Nuevo.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spc="52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segmento que más valor ge</a:t>
            </a:r>
            <a:r>
              <a:rPr lang="en-US" sz="2400" u="none" strike="noStrike" spc="52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</a:t>
            </a:r>
            <a:r>
              <a:rPr lang="en-US" sz="2400" spc="52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era</a:t>
            </a:r>
            <a:r>
              <a:rPr lang="en-US" sz="2400" u="none" strike="noStrike" spc="52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es Onl</a:t>
            </a:r>
            <a:r>
              <a:rPr lang="en-US" sz="2400" spc="52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ine-Recur</a:t>
            </a:r>
            <a:r>
              <a:rPr lang="en-US" sz="2400" u="none" strike="noStrike" spc="52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</a:t>
            </a:r>
            <a:r>
              <a:rPr lang="en-US" sz="2400" spc="52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ente.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spc="52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Existe una ligera</a:t>
            </a:r>
            <a:r>
              <a:rPr lang="en-US" sz="2400" u="none" strike="noStrike" spc="52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desalineación entre descuentos y valor generado.</a:t>
            </a:r>
          </a:p>
          <a:p>
            <a:pPr algn="ctr">
              <a:lnSpc>
                <a:spcPts val="3359"/>
              </a:lnSpc>
            </a:pPr>
            <a:endParaRPr lang="en-US" sz="2400" u="none" strike="noStrike" spc="52">
              <a:solidFill>
                <a:srgbClr val="EDE8E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2193947" y="4316453"/>
            <a:ext cx="4027549" cy="4253639"/>
            <a:chOff x="0" y="0"/>
            <a:chExt cx="636756" cy="6725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6756" cy="672500"/>
            </a:xfrm>
            <a:custGeom>
              <a:avLst/>
              <a:gdLst/>
              <a:ahLst/>
              <a:cxnLst/>
              <a:rect l="l" t="t" r="r" b="b"/>
              <a:pathLst>
                <a:path w="636756" h="672500">
                  <a:moveTo>
                    <a:pt x="49978" y="0"/>
                  </a:moveTo>
                  <a:lnTo>
                    <a:pt x="586777" y="0"/>
                  </a:lnTo>
                  <a:cubicBezTo>
                    <a:pt x="614380" y="0"/>
                    <a:pt x="636756" y="22376"/>
                    <a:pt x="636756" y="49978"/>
                  </a:cubicBezTo>
                  <a:lnTo>
                    <a:pt x="636756" y="622522"/>
                  </a:lnTo>
                  <a:cubicBezTo>
                    <a:pt x="636756" y="650124"/>
                    <a:pt x="614380" y="672500"/>
                    <a:pt x="586777" y="672500"/>
                  </a:cubicBezTo>
                  <a:lnTo>
                    <a:pt x="49978" y="672500"/>
                  </a:lnTo>
                  <a:cubicBezTo>
                    <a:pt x="22376" y="672500"/>
                    <a:pt x="0" y="650124"/>
                    <a:pt x="0" y="622522"/>
                  </a:cubicBezTo>
                  <a:lnTo>
                    <a:pt x="0" y="49978"/>
                  </a:lnTo>
                  <a:cubicBezTo>
                    <a:pt x="0" y="22376"/>
                    <a:pt x="22376" y="0"/>
                    <a:pt x="49978" y="0"/>
                  </a:cubicBezTo>
                  <a:close/>
                </a:path>
              </a:pathLst>
            </a:custGeom>
            <a:solidFill>
              <a:srgbClr val="253754"/>
            </a:solidFill>
            <a:ln cap="rnd">
              <a:noFill/>
              <a:prstDash val="lgDash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9525"/>
              <a:ext cx="636756" cy="662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2193947" y="5076825"/>
            <a:ext cx="3827654" cy="212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spc="65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DECISION</a:t>
            </a:r>
          </a:p>
          <a:p>
            <a:pPr algn="ctr">
              <a:lnSpc>
                <a:spcPts val="4200"/>
              </a:lnSpc>
            </a:pPr>
            <a:r>
              <a:rPr lang="en-US" sz="3000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</a:t>
            </a:r>
            <a:r>
              <a:rPr lang="en-US" sz="3000" u="none" strike="noStrike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</a:t>
            </a:r>
            <a:r>
              <a:rPr lang="en-US" sz="3000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er p</a:t>
            </a:r>
            <a:r>
              <a:rPr lang="en-US" sz="3000" u="none" strike="noStrike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romociones al segm</a:t>
            </a:r>
            <a:r>
              <a:rPr lang="en-US" sz="3000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ento</a:t>
            </a:r>
            <a:r>
              <a:rPr lang="en-US" sz="3000" u="none" strike="noStrike" spc="65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que si genera valor.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7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54302" y="2932240"/>
            <a:ext cx="5127156" cy="2547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58"/>
              </a:lnSpc>
            </a:pPr>
            <a:r>
              <a:rPr lang="en-US" sz="7327" b="1" spc="688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MUCHAS GRACIAS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1478627" y="1685723"/>
            <a:ext cx="0" cy="6915554"/>
          </a:xfrm>
          <a:prstGeom prst="line">
            <a:avLst/>
          </a:prstGeom>
          <a:ln w="66675" cap="flat">
            <a:solidFill>
              <a:srgbClr val="E3D8D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 rot="5400000">
            <a:off x="8502801" y="331078"/>
            <a:ext cx="10116277" cy="9454121"/>
          </a:xfrm>
          <a:custGeom>
            <a:avLst/>
            <a:gdLst/>
            <a:ahLst/>
            <a:cxnLst/>
            <a:rect l="l" t="t" r="r" b="b"/>
            <a:pathLst>
              <a:path w="10116277" h="9454121">
                <a:moveTo>
                  <a:pt x="0" y="0"/>
                </a:moveTo>
                <a:lnTo>
                  <a:pt x="10116277" y="0"/>
                </a:lnTo>
                <a:lnTo>
                  <a:pt x="10116277" y="9454121"/>
                </a:lnTo>
                <a:lnTo>
                  <a:pt x="0" y="94541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8017E0A9F5254CBA2D3864DCE132B9" ma:contentTypeVersion="11" ma:contentTypeDescription="Create a new document." ma:contentTypeScope="" ma:versionID="1c947df4fd1fbd70d8874991c27092ab">
  <xsd:schema xmlns:xsd="http://www.w3.org/2001/XMLSchema" xmlns:xs="http://www.w3.org/2001/XMLSchema" xmlns:p="http://schemas.microsoft.com/office/2006/metadata/properties" xmlns:ns2="6d80e809-e9cb-4d26-a728-5be72403651b" xmlns:ns3="4537086a-6f36-4b0e-8966-1e3eef27eb57" targetNamespace="http://schemas.microsoft.com/office/2006/metadata/properties" ma:root="true" ma:fieldsID="2bb500b273baf97ee95ecf00e12a2f28" ns2:_="" ns3:_="">
    <xsd:import namespace="6d80e809-e9cb-4d26-a728-5be72403651b"/>
    <xsd:import namespace="4537086a-6f36-4b0e-8966-1e3eef27eb5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80e809-e9cb-4d26-a728-5be72403651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8d5de925-3f08-4e1d-96c4-5e87567ca4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37086a-6f36-4b0e-8966-1e3eef27eb57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e934a9d-efe8-4802-b13a-8a37bebc1523}" ma:internalName="TaxCatchAll" ma:showField="CatchAllData" ma:web="4537086a-6f36-4b0e-8966-1e3eef27eb5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80e809-e9cb-4d26-a728-5be72403651b">
      <Terms xmlns="http://schemas.microsoft.com/office/infopath/2007/PartnerControls"/>
    </lcf76f155ced4ddcb4097134ff3c332f>
    <TaxCatchAll xmlns="4537086a-6f36-4b0e-8966-1e3eef27eb57" xsi:nil="true"/>
  </documentManagement>
</p:properties>
</file>

<file path=customXml/itemProps1.xml><?xml version="1.0" encoding="utf-8"?>
<ds:datastoreItem xmlns:ds="http://schemas.openxmlformats.org/officeDocument/2006/customXml" ds:itemID="{7F51B84B-4328-4D76-8581-A7B6B87DA74A}"/>
</file>

<file path=customXml/itemProps2.xml><?xml version="1.0" encoding="utf-8"?>
<ds:datastoreItem xmlns:ds="http://schemas.openxmlformats.org/officeDocument/2006/customXml" ds:itemID="{9A51B276-33F6-499A-A28B-3AA012DFFB93}"/>
</file>

<file path=customXml/itemProps3.xml><?xml version="1.0" encoding="utf-8"?>
<ds:datastoreItem xmlns:ds="http://schemas.openxmlformats.org/officeDocument/2006/customXml" ds:itemID="{BBC9B35D-313A-46F2-814D-EEBD539E4D91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proyecto de negocio formas orgánicas profesional azul y beis</dc:title>
  <cp:revision>1</cp:revision>
  <dcterms:created xsi:type="dcterms:W3CDTF">2006-08-16T00:00:00Z</dcterms:created>
  <dcterms:modified xsi:type="dcterms:W3CDTF">2026-06-15T01:05:49Z</dcterms:modified>
  <dc:identifier>DAHMl5KFVeA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0x010100028017E0A9F5254CBA2D3864DCE132B9</vt:lpwstr>
  </property>
</Properties>
</file>